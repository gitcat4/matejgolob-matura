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67" r:id="rId14"/>
    <p:sldId id="271" r:id="rId15"/>
    <p:sldId id="273" r:id="rId16"/>
    <p:sldId id="272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n n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kartice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nično ali neresnič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eklogo.com/free-vector-logos/un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tstore.unity.com/packages/2d/characters/knight-sprite-sheet-free-9389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dotnet/csharp/tour-of-csharp/" TargetMode="External"/><Relationship Id="rId3" Type="http://schemas.openxmlformats.org/officeDocument/2006/relationships/hyperlink" Target="https://en.wikipedia.org/wiki/Unity_(game_engine)" TargetMode="External"/><Relationship Id="rId7" Type="http://schemas.openxmlformats.org/officeDocument/2006/relationships/hyperlink" Target="https://www.geeksforgeeks.org/introduction-to-c-sharp/" TargetMode="External"/><Relationship Id="rId2" Type="http://schemas.openxmlformats.org/officeDocument/2006/relationships/hyperlink" Target="https://docs.microsoft.com/en-us/archive/msdn-magazine/2014/august/unity-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ndroidauthority.com/what-is-unity-1131558/" TargetMode="External"/><Relationship Id="rId5" Type="http://schemas.openxmlformats.org/officeDocument/2006/relationships/hyperlink" Target="https://www.redhat.com/en/topics/middleware/what-is-ide" TargetMode="External"/><Relationship Id="rId4" Type="http://schemas.openxmlformats.org/officeDocument/2006/relationships/hyperlink" Target="https://www.arnia.com/what-makes-unity-so-popular-in-game-development/" TargetMode="External"/><Relationship Id="rId9" Type="http://schemas.openxmlformats.org/officeDocument/2006/relationships/hyperlink" Target="https://support.unity.com/hc/en-us/articles/210142503-What-is-the-Unity-Asset-Store-and-how-do-I-purchase-Assets-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821B82-A0A6-4745-8A05-5BF020961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2" y="2297609"/>
            <a:ext cx="8915399" cy="2262781"/>
          </a:xfrm>
        </p:spPr>
        <p:txBody>
          <a:bodyPr/>
          <a:lstStyle/>
          <a:p>
            <a:r>
              <a:rPr lang="en-US" dirty="0"/>
              <a:t>IZDELAVA IGER – MISTIQUE</a:t>
            </a:r>
            <a:endParaRPr lang="sl-SI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9C5F86B-6CCC-438C-A14A-496C51C77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513006"/>
            <a:ext cx="8915399" cy="1390657"/>
          </a:xfrm>
        </p:spPr>
        <p:txBody>
          <a:bodyPr>
            <a:normAutofit/>
          </a:bodyPr>
          <a:lstStyle/>
          <a:p>
            <a:r>
              <a:rPr lang="en-US" sz="2000" dirty="0" err="1"/>
              <a:t>Avtor</a:t>
            </a:r>
            <a:r>
              <a:rPr lang="en-US" sz="2000" dirty="0"/>
              <a:t>: Matej Golob, T4A</a:t>
            </a:r>
          </a:p>
          <a:p>
            <a:r>
              <a:rPr lang="en-US" sz="2000" dirty="0" err="1"/>
              <a:t>Predmet</a:t>
            </a:r>
            <a:r>
              <a:rPr lang="en-US" sz="2000" dirty="0"/>
              <a:t>: </a:t>
            </a:r>
            <a:r>
              <a:rPr lang="en-US" sz="2000" dirty="0" err="1"/>
              <a:t>Računalništvo</a:t>
            </a:r>
            <a:endParaRPr lang="en-US" sz="2000" dirty="0"/>
          </a:p>
          <a:p>
            <a:r>
              <a:rPr lang="en-US" sz="2000" dirty="0"/>
              <a:t>Mentor: dr. Albert </a:t>
            </a:r>
            <a:r>
              <a:rPr lang="en-US" sz="2000" dirty="0" err="1"/>
              <a:t>Zorko</a:t>
            </a:r>
            <a:r>
              <a:rPr lang="en-US" sz="2000" dirty="0"/>
              <a:t>, univ. dipl. </a:t>
            </a:r>
            <a:r>
              <a:rPr lang="en-US" sz="2000" dirty="0" err="1"/>
              <a:t>inž</a:t>
            </a:r>
            <a:r>
              <a:rPr lang="en-US" sz="2000" dirty="0"/>
              <a:t>. el.</a:t>
            </a:r>
            <a:endParaRPr lang="sl-SI" sz="2000" dirty="0"/>
          </a:p>
        </p:txBody>
      </p:sp>
    </p:spTree>
    <p:extLst>
      <p:ext uri="{BB962C8B-B14F-4D97-AF65-F5344CB8AC3E}">
        <p14:creationId xmlns:p14="http://schemas.microsoft.com/office/powerpoint/2010/main" val="103766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2C0E574-91C7-4136-822B-49B9EE85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UVOD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6A87112-9065-4392-8993-AD41B9542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Predstavitev</a:t>
            </a:r>
            <a:r>
              <a:rPr lang="en-US" sz="2000" dirty="0"/>
              <a:t> Unity, C#</a:t>
            </a:r>
          </a:p>
          <a:p>
            <a:r>
              <a:rPr lang="en-US" sz="2000" dirty="0" err="1"/>
              <a:t>Opis</a:t>
            </a:r>
            <a:r>
              <a:rPr lang="en-US" sz="2000" dirty="0"/>
              <a:t> </a:t>
            </a:r>
            <a:r>
              <a:rPr lang="en-US" sz="2000" dirty="0" err="1"/>
              <a:t>izdelave</a:t>
            </a:r>
            <a:r>
              <a:rPr lang="en-US" sz="2000" dirty="0"/>
              <a:t> </a:t>
            </a:r>
            <a:r>
              <a:rPr lang="en-US" sz="2000" dirty="0" err="1"/>
              <a:t>igre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3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2A722BC-6FB8-4CB2-8F11-1AFB9E4D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439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dirty="0"/>
              <a:t>UNITY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A37E8B7-DCBD-4EB1-9B00-328460401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Razvojno</a:t>
            </a:r>
            <a:r>
              <a:rPr lang="en-US" sz="2000" dirty="0"/>
              <a:t> </a:t>
            </a:r>
            <a:r>
              <a:rPr lang="en-US" sz="2000" dirty="0" err="1"/>
              <a:t>okolje</a:t>
            </a:r>
            <a:endParaRPr lang="en-US" sz="2000" dirty="0"/>
          </a:p>
          <a:p>
            <a:r>
              <a:rPr lang="en-US" sz="2000" dirty="0"/>
              <a:t>2005</a:t>
            </a:r>
          </a:p>
          <a:p>
            <a:r>
              <a:rPr lang="en-US" sz="2000" dirty="0"/>
              <a:t>2D, 3D, </a:t>
            </a:r>
            <a:r>
              <a:rPr lang="en-US" sz="2000" dirty="0" err="1"/>
              <a:t>Vr</a:t>
            </a:r>
            <a:r>
              <a:rPr lang="en-US" sz="2000" dirty="0"/>
              <a:t> </a:t>
            </a:r>
            <a:r>
              <a:rPr lang="en-US" sz="2000" dirty="0" err="1"/>
              <a:t>igre</a:t>
            </a:r>
            <a:endParaRPr lang="en-US" sz="2000" dirty="0"/>
          </a:p>
          <a:p>
            <a:r>
              <a:rPr lang="en-US" sz="2000" dirty="0" err="1"/>
              <a:t>Razširjena</a:t>
            </a:r>
            <a:r>
              <a:rPr lang="en-US" sz="2000" dirty="0"/>
              <a:t> </a:t>
            </a:r>
            <a:r>
              <a:rPr lang="en-US" sz="2000" dirty="0" err="1"/>
              <a:t>skupnost</a:t>
            </a:r>
            <a:endParaRPr lang="en-US" sz="2000" dirty="0"/>
          </a:p>
          <a:p>
            <a:pPr marL="0" indent="0">
              <a:buNone/>
            </a:pPr>
            <a:r>
              <a:rPr lang="en-US" sz="1600" dirty="0"/>
              <a:t>	(1) (2) (3) (4) (5)</a:t>
            </a:r>
          </a:p>
          <a:p>
            <a:endParaRPr lang="en-US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94C28CAD-AEA8-4041-8D04-946F9B01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4329"/>
            <a:ext cx="2781688" cy="2857899"/>
          </a:xfrm>
          <a:prstGeom prst="rect">
            <a:avLst/>
          </a:prstGeom>
        </p:spPr>
      </p:pic>
      <p:sp>
        <p:nvSpPr>
          <p:cNvPr id="10" name="PoljeZBesedilom 9">
            <a:extLst>
              <a:ext uri="{FF2B5EF4-FFF2-40B4-BE49-F238E27FC236}">
                <a16:creationId xmlns:a16="http://schemas.microsoft.com/office/drawing/2014/main" id="{33130D4B-6BCF-488A-9383-D4BDA43ACAE5}"/>
              </a:ext>
            </a:extLst>
          </p:cNvPr>
          <p:cNvSpPr txBox="1"/>
          <p:nvPr/>
        </p:nvSpPr>
        <p:spPr>
          <a:xfrm>
            <a:off x="6096000" y="4802727"/>
            <a:ext cx="409919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1: Logo Unity</a:t>
            </a:r>
          </a:p>
          <a:p>
            <a:r>
              <a:rPr lang="sl-SI" sz="1400" dirty="0">
                <a:hlinkClick r:id="rId3"/>
              </a:rPr>
              <a:t>https://seeklogo.com/free-vector-logos/unity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26241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3D546CF-A265-4D65-B6E1-23C7479B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C#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69D8E87-1F49-49CF-987C-6405CC85F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Programski</a:t>
            </a:r>
            <a:r>
              <a:rPr lang="en-US" sz="2000" dirty="0"/>
              <a:t> </a:t>
            </a:r>
            <a:r>
              <a:rPr lang="en-US" sz="2000" dirty="0" err="1"/>
              <a:t>jezik</a:t>
            </a:r>
            <a:endParaRPr lang="en-US" sz="2000" dirty="0"/>
          </a:p>
          <a:p>
            <a:r>
              <a:rPr lang="en-US" sz="2000" dirty="0" err="1"/>
              <a:t>Razvil</a:t>
            </a:r>
            <a:r>
              <a:rPr lang="en-US" sz="2000" dirty="0"/>
              <a:t> Microsoft</a:t>
            </a:r>
          </a:p>
          <a:p>
            <a:r>
              <a:rPr lang="en-US" sz="2000" dirty="0" err="1"/>
              <a:t>Uporaba</a:t>
            </a:r>
            <a:r>
              <a:rPr lang="en-US" sz="2000" dirty="0"/>
              <a:t>:</a:t>
            </a:r>
          </a:p>
          <a:p>
            <a:pPr lvl="1"/>
            <a:r>
              <a:rPr lang="en-US" sz="2000" dirty="0" err="1"/>
              <a:t>Razvoj</a:t>
            </a:r>
            <a:r>
              <a:rPr lang="en-US" sz="2000" dirty="0"/>
              <a:t> </a:t>
            </a:r>
            <a:r>
              <a:rPr lang="en-US" sz="2000" dirty="0" err="1"/>
              <a:t>spletnih</a:t>
            </a:r>
            <a:r>
              <a:rPr lang="en-US" sz="2000" dirty="0"/>
              <a:t> </a:t>
            </a:r>
            <a:r>
              <a:rPr lang="en-US" sz="2000" dirty="0" err="1"/>
              <a:t>aplikacij</a:t>
            </a:r>
            <a:r>
              <a:rPr lang="en-US" sz="2000" dirty="0"/>
              <a:t>,</a:t>
            </a:r>
          </a:p>
          <a:p>
            <a:pPr lvl="1"/>
            <a:r>
              <a:rPr lang="en-US" sz="2000" dirty="0" err="1"/>
              <a:t>Razvoj</a:t>
            </a:r>
            <a:r>
              <a:rPr lang="en-US" sz="2000" dirty="0"/>
              <a:t> </a:t>
            </a:r>
            <a:r>
              <a:rPr lang="en-US" sz="2000" dirty="0" err="1"/>
              <a:t>iger</a:t>
            </a:r>
            <a:r>
              <a:rPr lang="en-US" sz="2000" dirty="0"/>
              <a:t>,</a:t>
            </a:r>
          </a:p>
          <a:p>
            <a:pPr lvl="1"/>
            <a:r>
              <a:rPr lang="en-US" sz="2000" dirty="0" err="1"/>
              <a:t>Namizni</a:t>
            </a:r>
            <a:r>
              <a:rPr lang="en-US" sz="2000" dirty="0"/>
              <a:t> </a:t>
            </a:r>
            <a:r>
              <a:rPr lang="en-US" sz="2000" dirty="0" err="1"/>
              <a:t>računalniki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1600" dirty="0"/>
              <a:t>(6) (7)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28745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77C37E4-901E-4E1C-BB5E-E322D1E0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IZDELAVA IGRE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B8A3A6-1321-42F6-91F3-18BC97607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Slikovni</a:t>
            </a:r>
            <a:r>
              <a:rPr lang="en-US" sz="2000" dirty="0"/>
              <a:t> material</a:t>
            </a:r>
          </a:p>
          <a:p>
            <a:r>
              <a:rPr lang="en-US" sz="2000" dirty="0" err="1"/>
              <a:t>Implementacija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endParaRPr lang="en-US" sz="2000" dirty="0"/>
          </a:p>
          <a:p>
            <a:r>
              <a:rPr lang="en-US" sz="2000" dirty="0" err="1"/>
              <a:t>Animacije</a:t>
            </a:r>
            <a:endParaRPr lang="en-US" sz="2000" dirty="0"/>
          </a:p>
          <a:p>
            <a:r>
              <a:rPr lang="en-US" sz="2000" dirty="0" err="1"/>
              <a:t>Skripte</a:t>
            </a:r>
            <a:endParaRPr lang="en-US" sz="2000" dirty="0"/>
          </a:p>
          <a:p>
            <a:r>
              <a:rPr lang="en-US" sz="2000" dirty="0"/>
              <a:t>Scene</a:t>
            </a:r>
            <a:endParaRPr lang="sl-SI" sz="2000" dirty="0"/>
          </a:p>
        </p:txBody>
      </p:sp>
    </p:spTree>
    <p:extLst>
      <p:ext uri="{BB962C8B-B14F-4D97-AF65-F5344CB8AC3E}">
        <p14:creationId xmlns:p14="http://schemas.microsoft.com/office/powerpoint/2010/main" val="1283177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C42F49F-6004-4342-A52E-2D183FB6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SLIKOVNI MATERIAL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641947B-2531-4A3D-B750-46736723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Trgovina</a:t>
            </a:r>
            <a:r>
              <a:rPr lang="en-US" sz="2400" dirty="0"/>
              <a:t> </a:t>
            </a:r>
            <a:r>
              <a:rPr lang="en-US" sz="2400" dirty="0" err="1"/>
              <a:t>sredstev</a:t>
            </a:r>
            <a:endParaRPr lang="en-US" sz="2400" dirty="0"/>
          </a:p>
          <a:p>
            <a:pPr lvl="1"/>
            <a:r>
              <a:rPr lang="en-US" sz="2000" dirty="0"/>
              <a:t>Angl. Asset store</a:t>
            </a:r>
          </a:p>
          <a:p>
            <a:pPr lvl="1"/>
            <a:r>
              <a:rPr lang="en-US" sz="2000" dirty="0" err="1"/>
              <a:t>Spletna</a:t>
            </a:r>
            <a:r>
              <a:rPr lang="en-US" sz="2000" dirty="0"/>
              <a:t> </a:t>
            </a:r>
            <a:r>
              <a:rPr lang="en-US" sz="2000" dirty="0" err="1"/>
              <a:t>trgovina</a:t>
            </a:r>
            <a:endParaRPr lang="en-US" sz="2000" dirty="0"/>
          </a:p>
          <a:p>
            <a:pPr lvl="1"/>
            <a:r>
              <a:rPr lang="en-US" sz="2000" dirty="0" err="1"/>
              <a:t>Prenos</a:t>
            </a:r>
            <a:r>
              <a:rPr lang="en-US" sz="2000" dirty="0"/>
              <a:t> </a:t>
            </a:r>
            <a:r>
              <a:rPr lang="en-US" sz="2000" dirty="0" err="1"/>
              <a:t>modelov</a:t>
            </a:r>
            <a:endParaRPr lang="en-US" sz="2000" dirty="0"/>
          </a:p>
          <a:p>
            <a:pPr marL="457200" lvl="1" indent="0">
              <a:buNone/>
            </a:pPr>
            <a:r>
              <a:rPr lang="en-US" dirty="0"/>
              <a:t>   (8)</a:t>
            </a:r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9405840-8872-4F86-8BC9-F956700D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5" y="1905000"/>
            <a:ext cx="4582164" cy="2534004"/>
          </a:xfrm>
          <a:prstGeom prst="rect">
            <a:avLst/>
          </a:prstGeom>
        </p:spPr>
      </p:pic>
      <p:sp>
        <p:nvSpPr>
          <p:cNvPr id="6" name="PoljeZBesedilom 5">
            <a:extLst>
              <a:ext uri="{FF2B5EF4-FFF2-40B4-BE49-F238E27FC236}">
                <a16:creationId xmlns:a16="http://schemas.microsoft.com/office/drawing/2014/main" id="{93237198-C857-4EE7-AECF-0BA43A3D1D70}"/>
              </a:ext>
            </a:extLst>
          </p:cNvPr>
          <p:cNvSpPr txBox="1"/>
          <p:nvPr/>
        </p:nvSpPr>
        <p:spPr>
          <a:xfrm>
            <a:off x="5987845" y="4439004"/>
            <a:ext cx="5801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2: </a:t>
            </a:r>
            <a:r>
              <a:rPr lang="en-US" sz="1600" dirty="0" err="1"/>
              <a:t>Slike</a:t>
            </a:r>
            <a:r>
              <a:rPr lang="en-US" sz="1600" dirty="0"/>
              <a:t> </a:t>
            </a:r>
            <a:r>
              <a:rPr lang="en-US" sz="1600" dirty="0" err="1"/>
              <a:t>viteza</a:t>
            </a:r>
            <a:endParaRPr lang="en-US" sz="1600" dirty="0"/>
          </a:p>
          <a:p>
            <a:r>
              <a:rPr lang="en-US" sz="1400" dirty="0">
                <a:hlinkClick r:id="rId3"/>
              </a:rPr>
              <a:t>https://assetstore.unity.com/packages/2d/characters/knight-sprite-sheet-free-93897</a:t>
            </a:r>
            <a:r>
              <a:rPr lang="en-US" sz="1400" dirty="0"/>
              <a:t> 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E5788E2-BDEB-4BE6-8B3B-F6A289619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990" y="4324743"/>
            <a:ext cx="4081373" cy="883702"/>
          </a:xfrm>
          <a:prstGeom prst="rect">
            <a:avLst/>
          </a:prstGeom>
        </p:spPr>
      </p:pic>
      <p:sp>
        <p:nvSpPr>
          <p:cNvPr id="8" name="PoljeZBesedilom 7">
            <a:extLst>
              <a:ext uri="{FF2B5EF4-FFF2-40B4-BE49-F238E27FC236}">
                <a16:creationId xmlns:a16="http://schemas.microsoft.com/office/drawing/2014/main" id="{4A79206F-31BD-496E-819C-22FD7168AE59}"/>
              </a:ext>
            </a:extLst>
          </p:cNvPr>
          <p:cNvSpPr txBox="1"/>
          <p:nvPr/>
        </p:nvSpPr>
        <p:spPr>
          <a:xfrm>
            <a:off x="1621990" y="5252379"/>
            <a:ext cx="2473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3: </a:t>
            </a:r>
            <a:r>
              <a:rPr lang="en-US" sz="1600" dirty="0" err="1"/>
              <a:t>Slikovni</a:t>
            </a:r>
            <a:r>
              <a:rPr lang="en-US" sz="1600" dirty="0"/>
              <a:t> material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1140896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F67A260-A72B-41E2-99E4-065E9E91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IMPLEMENTACIJA SLIK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16FF7D3-FCF8-4E77-994F-DE5B5577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Hierarhija</a:t>
            </a:r>
            <a:r>
              <a:rPr lang="en-US" sz="2000" dirty="0"/>
              <a:t> </a:t>
            </a:r>
            <a:r>
              <a:rPr lang="en-US" sz="2000" dirty="0" err="1"/>
              <a:t>objektov</a:t>
            </a:r>
            <a:endParaRPr lang="en-US" sz="2000" dirty="0"/>
          </a:p>
          <a:p>
            <a:r>
              <a:rPr lang="en-US" sz="2000" dirty="0" err="1"/>
              <a:t>Kontrola</a:t>
            </a:r>
            <a:r>
              <a:rPr lang="en-US" sz="2000" dirty="0"/>
              <a:t> </a:t>
            </a:r>
            <a:r>
              <a:rPr lang="en-US" sz="2000" dirty="0" err="1"/>
              <a:t>lastnosti</a:t>
            </a:r>
            <a:r>
              <a:rPr lang="en-US" sz="2000" dirty="0"/>
              <a:t> </a:t>
            </a:r>
            <a:r>
              <a:rPr lang="en-US" sz="2000" dirty="0" err="1"/>
              <a:t>modelov</a:t>
            </a:r>
            <a:endParaRPr lang="sl-SI" sz="2000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4DD2B74-EFD4-490D-B265-A8781AD09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334090"/>
            <a:ext cx="2638793" cy="1743318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AB37B495-60FC-48AB-8124-862E603FD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84" y="1905000"/>
            <a:ext cx="4424515" cy="3922198"/>
          </a:xfrm>
          <a:prstGeom prst="rect">
            <a:avLst/>
          </a:prstGeom>
        </p:spPr>
      </p:pic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940D99F3-45E0-4B83-A272-E3B61D806DBE}"/>
              </a:ext>
            </a:extLst>
          </p:cNvPr>
          <p:cNvSpPr txBox="1"/>
          <p:nvPr/>
        </p:nvSpPr>
        <p:spPr>
          <a:xfrm>
            <a:off x="2558261" y="5121342"/>
            <a:ext cx="1806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4: </a:t>
            </a:r>
            <a:r>
              <a:rPr lang="en-US" sz="1600" dirty="0" err="1"/>
              <a:t>hierarhija</a:t>
            </a:r>
            <a:endParaRPr lang="sl-SI" sz="1600" dirty="0"/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6300E9D4-AB86-4DE0-A03A-49A4840FF325}"/>
              </a:ext>
            </a:extLst>
          </p:cNvPr>
          <p:cNvSpPr txBox="1"/>
          <p:nvPr/>
        </p:nvSpPr>
        <p:spPr>
          <a:xfrm>
            <a:off x="6548284" y="5845990"/>
            <a:ext cx="2560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5: </a:t>
            </a:r>
            <a:r>
              <a:rPr lang="en-US" sz="1600" dirty="0" err="1"/>
              <a:t>Kontrola</a:t>
            </a:r>
            <a:r>
              <a:rPr lang="en-US" sz="1600" dirty="0"/>
              <a:t> </a:t>
            </a:r>
            <a:r>
              <a:rPr lang="en-US" sz="1600" dirty="0" err="1"/>
              <a:t>lastnosti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1194981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96C1F3F-FA61-4335-8A72-A276F44E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ANIMACIJE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C7384F2-3634-49A7-B8BF-37B233587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169670"/>
          </a:xfrm>
        </p:spPr>
        <p:txBody>
          <a:bodyPr/>
          <a:lstStyle/>
          <a:p>
            <a:r>
              <a:rPr lang="en-US" sz="2000" dirty="0" err="1"/>
              <a:t>Omogočijo</a:t>
            </a:r>
            <a:r>
              <a:rPr lang="en-US" sz="2000" dirty="0"/>
              <a:t> </a:t>
            </a:r>
            <a:r>
              <a:rPr lang="en-US" sz="2000" dirty="0" err="1"/>
              <a:t>premik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endParaRPr lang="en-US" sz="2000" dirty="0"/>
          </a:p>
          <a:p>
            <a:r>
              <a:rPr lang="en-US" sz="2000" dirty="0" err="1"/>
              <a:t>Posnetek</a:t>
            </a:r>
            <a:r>
              <a:rPr lang="en-US" sz="2000" dirty="0"/>
              <a:t> </a:t>
            </a:r>
            <a:r>
              <a:rPr lang="en-US" sz="2000" dirty="0" err="1"/>
              <a:t>slik</a:t>
            </a:r>
            <a:endParaRPr lang="en-US" sz="2000" dirty="0"/>
          </a:p>
          <a:p>
            <a:endParaRPr lang="en-US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D2640745-7111-464E-866A-52477D53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88735"/>
            <a:ext cx="4991459" cy="915464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DEF8C6ED-03F2-497B-9241-2CAA22AD0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016" y="3774700"/>
            <a:ext cx="5429443" cy="2310879"/>
          </a:xfrm>
          <a:prstGeom prst="rect">
            <a:avLst/>
          </a:prstGeom>
        </p:spPr>
      </p:pic>
      <p:sp>
        <p:nvSpPr>
          <p:cNvPr id="9" name="Označba mesta vsebine 2">
            <a:extLst>
              <a:ext uri="{FF2B5EF4-FFF2-40B4-BE49-F238E27FC236}">
                <a16:creationId xmlns:a16="http://schemas.microsoft.com/office/drawing/2014/main" id="{04723E6E-95FC-4872-A540-36704FF95E01}"/>
              </a:ext>
            </a:extLst>
          </p:cNvPr>
          <p:cNvSpPr txBox="1">
            <a:spLocks/>
          </p:cNvSpPr>
          <p:nvPr/>
        </p:nvSpPr>
        <p:spPr>
          <a:xfrm>
            <a:off x="2589212" y="3760469"/>
            <a:ext cx="8915400" cy="1169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Animator</a:t>
            </a:r>
          </a:p>
          <a:p>
            <a:r>
              <a:rPr lang="en-US" sz="2000" dirty="0" err="1"/>
              <a:t>Povezava</a:t>
            </a:r>
            <a:r>
              <a:rPr lang="en-US" sz="2000" dirty="0"/>
              <a:t> </a:t>
            </a:r>
            <a:r>
              <a:rPr lang="en-US" sz="2000" dirty="0" err="1"/>
              <a:t>animacij</a:t>
            </a:r>
            <a:endParaRPr lang="en-US" sz="2000" dirty="0"/>
          </a:p>
          <a:p>
            <a:endParaRPr lang="en-US" dirty="0"/>
          </a:p>
        </p:txBody>
      </p:sp>
      <p:sp>
        <p:nvSpPr>
          <p:cNvPr id="10" name="PoljeZBesedilom 9">
            <a:extLst>
              <a:ext uri="{FF2B5EF4-FFF2-40B4-BE49-F238E27FC236}">
                <a16:creationId xmlns:a16="http://schemas.microsoft.com/office/drawing/2014/main" id="{7888469D-73D4-44FC-A3D0-2C6FA12D6B1D}"/>
              </a:ext>
            </a:extLst>
          </p:cNvPr>
          <p:cNvSpPr txBox="1"/>
          <p:nvPr/>
        </p:nvSpPr>
        <p:spPr>
          <a:xfrm>
            <a:off x="6096000" y="3074088"/>
            <a:ext cx="2592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6: </a:t>
            </a:r>
            <a:r>
              <a:rPr lang="en-US" sz="1600" dirty="0" err="1"/>
              <a:t>Posnem</a:t>
            </a:r>
            <a:r>
              <a:rPr lang="en-US" sz="1600" dirty="0"/>
              <a:t> </a:t>
            </a:r>
            <a:r>
              <a:rPr lang="en-US" sz="1600" dirty="0" err="1"/>
              <a:t>animacij</a:t>
            </a:r>
            <a:endParaRPr lang="sl-SI" sz="1600" dirty="0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6C704B9D-0984-4217-B650-B5E1FD7A2B36}"/>
              </a:ext>
            </a:extLst>
          </p:cNvPr>
          <p:cNvSpPr txBox="1"/>
          <p:nvPr/>
        </p:nvSpPr>
        <p:spPr>
          <a:xfrm>
            <a:off x="5658016" y="6099810"/>
            <a:ext cx="3191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7: </a:t>
            </a:r>
            <a:r>
              <a:rPr lang="en-US" sz="1600" dirty="0" err="1"/>
              <a:t>Animacije</a:t>
            </a:r>
            <a:r>
              <a:rPr lang="en-US" sz="1600" dirty="0"/>
              <a:t> v </a:t>
            </a:r>
            <a:r>
              <a:rPr lang="en-US" sz="1600" dirty="0" err="1"/>
              <a:t>animatorju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3119003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A5DAB6F-6D47-4388-9624-1C3E353C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SKRIPTE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690AECF-9236-489F-AAD9-2AB9126F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Najpomembnejši</a:t>
            </a:r>
            <a:r>
              <a:rPr lang="en-US" sz="2000" dirty="0"/>
              <a:t> del</a:t>
            </a:r>
          </a:p>
          <a:p>
            <a:r>
              <a:rPr lang="en-US" sz="2000" dirty="0" err="1"/>
              <a:t>Omogočajo</a:t>
            </a:r>
            <a:r>
              <a:rPr lang="en-US" sz="2000" dirty="0"/>
              <a:t> </a:t>
            </a:r>
            <a:r>
              <a:rPr lang="en-US" sz="2000" dirty="0" err="1"/>
              <a:t>delovanje</a:t>
            </a:r>
            <a:r>
              <a:rPr lang="en-US" sz="2000" dirty="0"/>
              <a:t> </a:t>
            </a:r>
            <a:r>
              <a:rPr lang="en-US" sz="2000" dirty="0" err="1"/>
              <a:t>gradnikov</a:t>
            </a:r>
            <a:endParaRPr lang="en-US" sz="2000" dirty="0"/>
          </a:p>
          <a:p>
            <a:r>
              <a:rPr lang="en-US" sz="2000" dirty="0" err="1"/>
              <a:t>Primeri</a:t>
            </a:r>
            <a:r>
              <a:rPr lang="en-US" sz="2000" dirty="0"/>
              <a:t>:</a:t>
            </a:r>
          </a:p>
          <a:p>
            <a:pPr lvl="1"/>
            <a:r>
              <a:rPr lang="en-US" sz="1800" dirty="0" err="1"/>
              <a:t>Premik</a:t>
            </a:r>
            <a:r>
              <a:rPr lang="en-US" sz="1800" dirty="0"/>
              <a:t> </a:t>
            </a:r>
            <a:r>
              <a:rPr lang="en-US" sz="1800" dirty="0" err="1"/>
              <a:t>viteza</a:t>
            </a:r>
            <a:endParaRPr lang="en-US" sz="1800" dirty="0"/>
          </a:p>
          <a:p>
            <a:pPr lvl="1"/>
            <a:r>
              <a:rPr lang="en-US" sz="1800" dirty="0" err="1"/>
              <a:t>Življenje</a:t>
            </a:r>
            <a:r>
              <a:rPr lang="en-US" sz="1800" dirty="0"/>
              <a:t> </a:t>
            </a:r>
            <a:r>
              <a:rPr lang="en-US" sz="1800" dirty="0" err="1"/>
              <a:t>viteza</a:t>
            </a:r>
            <a:endParaRPr lang="en-US" sz="1800" dirty="0"/>
          </a:p>
          <a:p>
            <a:pPr lvl="1"/>
            <a:r>
              <a:rPr lang="en-US" sz="1800" dirty="0" err="1"/>
              <a:t>Kontrola</a:t>
            </a:r>
            <a:r>
              <a:rPr lang="en-US" sz="1800" dirty="0"/>
              <a:t> </a:t>
            </a:r>
            <a:r>
              <a:rPr lang="en-US" sz="1800" dirty="0" err="1"/>
              <a:t>kamere</a:t>
            </a:r>
            <a:endParaRPr lang="en-US" sz="1800" dirty="0"/>
          </a:p>
          <a:p>
            <a:pPr lvl="1"/>
            <a:r>
              <a:rPr lang="en-US" sz="1800" dirty="0" err="1"/>
              <a:t>Napad</a:t>
            </a:r>
            <a:r>
              <a:rPr lang="en-US" sz="1800" dirty="0"/>
              <a:t> </a:t>
            </a:r>
            <a:r>
              <a:rPr lang="en-US" sz="1800" dirty="0" err="1"/>
              <a:t>nasprotnika</a:t>
            </a:r>
            <a:endParaRPr lang="en-US" sz="1800" dirty="0"/>
          </a:p>
          <a:p>
            <a:pPr lvl="1"/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495039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098DBB-00D7-4A95-A2A1-513A8379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PREMIKANJE</a:t>
            </a:r>
            <a:endParaRPr lang="sl-SI" sz="4000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2D98387D-5982-47BF-927C-D42B16822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3429000"/>
            <a:ext cx="6397471" cy="2272625"/>
          </a:xfr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23E902EB-2647-48D4-B106-8047F46DC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1826705"/>
            <a:ext cx="3915321" cy="809738"/>
          </a:xfrm>
          <a:prstGeom prst="rect">
            <a:avLst/>
          </a:prstGeom>
        </p:spPr>
      </p:pic>
      <p:sp>
        <p:nvSpPr>
          <p:cNvPr id="8" name="PoljeZBesedilom 7">
            <a:extLst>
              <a:ext uri="{FF2B5EF4-FFF2-40B4-BE49-F238E27FC236}">
                <a16:creationId xmlns:a16="http://schemas.microsoft.com/office/drawing/2014/main" id="{1C14AD26-DC9A-4CB2-B0B0-96459741DC47}"/>
              </a:ext>
            </a:extLst>
          </p:cNvPr>
          <p:cNvSpPr txBox="1"/>
          <p:nvPr/>
        </p:nvSpPr>
        <p:spPr>
          <a:xfrm>
            <a:off x="2592925" y="2636443"/>
            <a:ext cx="21226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8: </a:t>
            </a:r>
            <a:r>
              <a:rPr lang="en-US" sz="1600" dirty="0" err="1"/>
              <a:t>Obrat</a:t>
            </a:r>
            <a:r>
              <a:rPr lang="en-US" sz="1600" dirty="0"/>
              <a:t> </a:t>
            </a:r>
            <a:r>
              <a:rPr lang="en-US" sz="1600" dirty="0" err="1"/>
              <a:t>viteza</a:t>
            </a:r>
            <a:endParaRPr lang="sl-SI" sz="1600" dirty="0"/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7594778-4047-4478-85CB-F251BA3346DB}"/>
              </a:ext>
            </a:extLst>
          </p:cNvPr>
          <p:cNvSpPr txBox="1"/>
          <p:nvPr/>
        </p:nvSpPr>
        <p:spPr>
          <a:xfrm>
            <a:off x="2592925" y="5701625"/>
            <a:ext cx="1976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9: </a:t>
            </a:r>
            <a:r>
              <a:rPr lang="en-US" sz="1600" dirty="0" err="1"/>
              <a:t>Skok</a:t>
            </a:r>
            <a:r>
              <a:rPr lang="en-US" sz="1600" dirty="0"/>
              <a:t> </a:t>
            </a:r>
            <a:r>
              <a:rPr lang="en-US" sz="1600" dirty="0" err="1"/>
              <a:t>viteza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3970320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2C493B1-A59A-4EB1-89B0-F0FAF3945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04446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dirty="0"/>
              <a:t>KONTROLA KAMERE</a:t>
            </a:r>
            <a:endParaRPr lang="sl-SI" sz="4000" dirty="0"/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D81FD7F3-38D6-432F-B880-6BA460E9D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0118" y="1888045"/>
            <a:ext cx="3972479" cy="771633"/>
          </a:xfr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DFC9AAC0-50B3-42E3-9ABF-8B18B4EC8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3371466"/>
            <a:ext cx="8326012" cy="1009791"/>
          </a:xfrm>
          <a:prstGeom prst="rect">
            <a:avLst/>
          </a:prstGeom>
        </p:spPr>
      </p:pic>
      <p:sp>
        <p:nvSpPr>
          <p:cNvPr id="9" name="Označba mesta vsebine 2">
            <a:extLst>
              <a:ext uri="{FF2B5EF4-FFF2-40B4-BE49-F238E27FC236}">
                <a16:creationId xmlns:a16="http://schemas.microsoft.com/office/drawing/2014/main" id="{4493FAF7-2664-4CA5-9FB9-9F12812C8231}"/>
              </a:ext>
            </a:extLst>
          </p:cNvPr>
          <p:cNvSpPr txBox="1">
            <a:spLocks/>
          </p:cNvSpPr>
          <p:nvPr/>
        </p:nvSpPr>
        <p:spPr>
          <a:xfrm>
            <a:off x="2589212" y="1821130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Izdelava</a:t>
            </a:r>
            <a:r>
              <a:rPr lang="en-US" sz="2000" dirty="0"/>
              <a:t> </a:t>
            </a:r>
            <a:r>
              <a:rPr lang="en-US" sz="2000" dirty="0" err="1"/>
              <a:t>spremenljivk</a:t>
            </a:r>
            <a:endParaRPr lang="en-US" sz="2000" dirty="0"/>
          </a:p>
          <a:p>
            <a:r>
              <a:rPr lang="en-US" sz="2000" dirty="0" err="1"/>
              <a:t>Metoda</a:t>
            </a:r>
            <a:r>
              <a:rPr lang="en-US" sz="2000" dirty="0"/>
              <a:t> za </a:t>
            </a:r>
            <a:r>
              <a:rPr lang="en-US" sz="2000" dirty="0" err="1"/>
              <a:t>sledenje</a:t>
            </a:r>
            <a:endParaRPr lang="en-US" sz="2000" dirty="0"/>
          </a:p>
        </p:txBody>
      </p:sp>
      <p:sp>
        <p:nvSpPr>
          <p:cNvPr id="10" name="PoljeZBesedilom 9">
            <a:extLst>
              <a:ext uri="{FF2B5EF4-FFF2-40B4-BE49-F238E27FC236}">
                <a16:creationId xmlns:a16="http://schemas.microsoft.com/office/drawing/2014/main" id="{B3458B90-830F-4CCA-A6A6-D69DB0B6AA70}"/>
              </a:ext>
            </a:extLst>
          </p:cNvPr>
          <p:cNvSpPr txBox="1"/>
          <p:nvPr/>
        </p:nvSpPr>
        <p:spPr>
          <a:xfrm>
            <a:off x="6490118" y="2677018"/>
            <a:ext cx="2371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10: </a:t>
            </a:r>
            <a:r>
              <a:rPr lang="en-US" sz="1600" dirty="0" err="1"/>
              <a:t>Spremenljivke</a:t>
            </a:r>
            <a:endParaRPr lang="sl-SI" sz="1600" dirty="0"/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5C815EC0-B9B3-4577-AC3C-E6C963BE3839}"/>
              </a:ext>
            </a:extLst>
          </p:cNvPr>
          <p:cNvSpPr txBox="1"/>
          <p:nvPr/>
        </p:nvSpPr>
        <p:spPr>
          <a:xfrm>
            <a:off x="2589212" y="4381257"/>
            <a:ext cx="1797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11: </a:t>
            </a:r>
            <a:r>
              <a:rPr lang="en-US" sz="1600" dirty="0" err="1"/>
              <a:t>Kamera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214121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4E02C1E-58AE-40FC-BC09-E60FC8AE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SISTEM ŽIVLJENJA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59985-4B93-4517-9F61-754ABA7E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Življenje</a:t>
            </a:r>
            <a:endParaRPr lang="en-US" sz="2000" dirty="0"/>
          </a:p>
          <a:p>
            <a:r>
              <a:rPr lang="en-US" sz="2000" dirty="0" err="1"/>
              <a:t>Poškodba</a:t>
            </a:r>
            <a:endParaRPr lang="en-US" sz="2000" dirty="0"/>
          </a:p>
          <a:p>
            <a:r>
              <a:rPr lang="en-US" sz="2000" dirty="0" err="1"/>
              <a:t>Smrt</a:t>
            </a:r>
            <a:endParaRPr lang="sl-SI" sz="200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98EBCFC4-B7AC-4E59-9F4C-BB89454DE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571" y="1905001"/>
            <a:ext cx="5823771" cy="4006221"/>
          </a:xfrm>
          <a:prstGeom prst="rect">
            <a:avLst/>
          </a:prstGeom>
        </p:spPr>
      </p:pic>
      <p:sp>
        <p:nvSpPr>
          <p:cNvPr id="6" name="PoljeZBesedilom 5">
            <a:extLst>
              <a:ext uri="{FF2B5EF4-FFF2-40B4-BE49-F238E27FC236}">
                <a16:creationId xmlns:a16="http://schemas.microsoft.com/office/drawing/2014/main" id="{95F25C7D-6235-4EE1-B86F-E32D470E08DB}"/>
              </a:ext>
            </a:extLst>
          </p:cNvPr>
          <p:cNvSpPr txBox="1"/>
          <p:nvPr/>
        </p:nvSpPr>
        <p:spPr>
          <a:xfrm>
            <a:off x="4765571" y="5877016"/>
            <a:ext cx="2448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12: </a:t>
            </a:r>
            <a:r>
              <a:rPr lang="en-US" sz="1600" dirty="0" err="1"/>
              <a:t>Sistem</a:t>
            </a:r>
            <a:r>
              <a:rPr lang="en-US" sz="1600" dirty="0"/>
              <a:t> </a:t>
            </a:r>
            <a:r>
              <a:rPr lang="en-US" sz="1600" dirty="0" err="1"/>
              <a:t>življenja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2570985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DFDBC80-D50A-43E6-92AB-ABC33CE52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SCENE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76B903A-1281-4CA8-9566-0B21D96B7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3 Scene:</a:t>
            </a:r>
          </a:p>
          <a:p>
            <a:pPr lvl="1"/>
            <a:r>
              <a:rPr lang="en-US" sz="1800" dirty="0" err="1"/>
              <a:t>Začetni</a:t>
            </a:r>
            <a:r>
              <a:rPr lang="en-US" sz="1800" dirty="0"/>
              <a:t> </a:t>
            </a:r>
            <a:r>
              <a:rPr lang="en-US" sz="1800" dirty="0" err="1"/>
              <a:t>meni</a:t>
            </a:r>
            <a:endParaRPr lang="en-US" sz="1800" dirty="0"/>
          </a:p>
          <a:p>
            <a:pPr lvl="1"/>
            <a:r>
              <a:rPr lang="en-US" sz="1800" dirty="0" err="1"/>
              <a:t>Nivo</a:t>
            </a:r>
            <a:r>
              <a:rPr lang="en-US" sz="1800" dirty="0"/>
              <a:t> 1</a:t>
            </a:r>
          </a:p>
          <a:p>
            <a:pPr lvl="1"/>
            <a:r>
              <a:rPr lang="en-US" sz="1800" dirty="0" err="1"/>
              <a:t>Končni</a:t>
            </a:r>
            <a:r>
              <a:rPr lang="en-US" sz="1800" dirty="0"/>
              <a:t> </a:t>
            </a:r>
            <a:r>
              <a:rPr lang="en-US" sz="1800" dirty="0" err="1"/>
              <a:t>meni</a:t>
            </a:r>
            <a:endParaRPr lang="sl-SI" sz="1800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46D5BB19-023C-40CB-9F8E-EA878FEB7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4238831"/>
            <a:ext cx="8442582" cy="1448002"/>
          </a:xfrm>
          <a:prstGeom prst="rect">
            <a:avLst/>
          </a:prstGeom>
        </p:spPr>
      </p:pic>
      <p:sp>
        <p:nvSpPr>
          <p:cNvPr id="6" name="PoljeZBesedilom 5">
            <a:extLst>
              <a:ext uri="{FF2B5EF4-FFF2-40B4-BE49-F238E27FC236}">
                <a16:creationId xmlns:a16="http://schemas.microsoft.com/office/drawing/2014/main" id="{A58CF69D-64D5-418C-A595-EDBA286D1270}"/>
              </a:ext>
            </a:extLst>
          </p:cNvPr>
          <p:cNvSpPr txBox="1"/>
          <p:nvPr/>
        </p:nvSpPr>
        <p:spPr>
          <a:xfrm>
            <a:off x="2589212" y="5686833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13: </a:t>
            </a:r>
            <a:r>
              <a:rPr lang="en-US" sz="1600" dirty="0" err="1"/>
              <a:t>Nivo</a:t>
            </a:r>
            <a:r>
              <a:rPr lang="en-US" sz="1600" dirty="0"/>
              <a:t> 1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1428793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8C8D20-BB93-46FD-B945-DF8A098A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SCENE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6E73024-0B1F-48BE-89CD-050C1D02B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Začetna</a:t>
            </a:r>
            <a:r>
              <a:rPr lang="en-US" sz="2000" dirty="0"/>
              <a:t> in </a:t>
            </a:r>
            <a:r>
              <a:rPr lang="en-US" sz="2000" dirty="0" err="1"/>
              <a:t>končna</a:t>
            </a:r>
            <a:r>
              <a:rPr lang="en-US" sz="2000" dirty="0"/>
              <a:t> scena</a:t>
            </a:r>
            <a:endParaRPr lang="sl-SI" sz="2000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E49929F-F5ED-461B-82DB-5101749C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448" y="5424492"/>
            <a:ext cx="3419952" cy="781159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73B4D604-560C-4681-BDB5-74A6D8ED1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77" y="2902489"/>
            <a:ext cx="3220216" cy="1942663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F8C2E35-6E42-49B0-BE47-2CC5D781A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448" y="2902489"/>
            <a:ext cx="3419952" cy="1942663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BD7B482D-4B59-472B-AFA6-992D8E985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377" y="5424492"/>
            <a:ext cx="4403097" cy="809398"/>
          </a:xfrm>
          <a:prstGeom prst="rect">
            <a:avLst/>
          </a:prstGeom>
        </p:spPr>
      </p:pic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CF2004CB-4CCB-4C57-ACFD-82362CBC6002}"/>
              </a:ext>
            </a:extLst>
          </p:cNvPr>
          <p:cNvSpPr txBox="1"/>
          <p:nvPr/>
        </p:nvSpPr>
        <p:spPr>
          <a:xfrm>
            <a:off x="1907377" y="4871164"/>
            <a:ext cx="2165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14: </a:t>
            </a:r>
            <a:r>
              <a:rPr lang="en-US" sz="1600" dirty="0" err="1"/>
              <a:t>Startni</a:t>
            </a:r>
            <a:r>
              <a:rPr lang="en-US" sz="1600" dirty="0"/>
              <a:t> </a:t>
            </a:r>
            <a:r>
              <a:rPr lang="en-US" sz="1600" dirty="0" err="1"/>
              <a:t>meni</a:t>
            </a:r>
            <a:endParaRPr lang="sl-SI" sz="1600" dirty="0"/>
          </a:p>
        </p:txBody>
      </p: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017B1326-FF20-474D-866F-6CF8BBEADB02}"/>
              </a:ext>
            </a:extLst>
          </p:cNvPr>
          <p:cNvSpPr txBox="1"/>
          <p:nvPr/>
        </p:nvSpPr>
        <p:spPr>
          <a:xfrm>
            <a:off x="1907377" y="6177012"/>
            <a:ext cx="2746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15: </a:t>
            </a:r>
            <a:r>
              <a:rPr lang="en-US" sz="1600" dirty="0" err="1"/>
              <a:t>Koda</a:t>
            </a:r>
            <a:r>
              <a:rPr lang="en-US" sz="1600" dirty="0"/>
              <a:t> </a:t>
            </a:r>
            <a:r>
              <a:rPr lang="en-US" sz="1600" dirty="0" err="1"/>
              <a:t>zač</a:t>
            </a:r>
            <a:r>
              <a:rPr lang="en-US" sz="1600" dirty="0"/>
              <a:t>. </a:t>
            </a:r>
            <a:r>
              <a:rPr lang="en-US" sz="1600" dirty="0" err="1"/>
              <a:t>menija</a:t>
            </a:r>
            <a:endParaRPr lang="sl-SI" sz="1600" dirty="0"/>
          </a:p>
        </p:txBody>
      </p:sp>
      <p:sp>
        <p:nvSpPr>
          <p:cNvPr id="16" name="PoljeZBesedilom 15">
            <a:extLst>
              <a:ext uri="{FF2B5EF4-FFF2-40B4-BE49-F238E27FC236}">
                <a16:creationId xmlns:a16="http://schemas.microsoft.com/office/drawing/2014/main" id="{8525BDE7-94DC-4306-81BD-0B31642334DA}"/>
              </a:ext>
            </a:extLst>
          </p:cNvPr>
          <p:cNvSpPr txBox="1"/>
          <p:nvPr/>
        </p:nvSpPr>
        <p:spPr>
          <a:xfrm>
            <a:off x="7354448" y="4871164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16: </a:t>
            </a:r>
            <a:r>
              <a:rPr lang="en-US" sz="1600" dirty="0" err="1"/>
              <a:t>Končni</a:t>
            </a:r>
            <a:r>
              <a:rPr lang="en-US" sz="1600" dirty="0"/>
              <a:t> </a:t>
            </a:r>
            <a:r>
              <a:rPr lang="en-US" sz="1600" dirty="0" err="1"/>
              <a:t>meni</a:t>
            </a:r>
            <a:endParaRPr lang="sl-SI" sz="1600" dirty="0"/>
          </a:p>
        </p:txBody>
      </p:sp>
      <p:sp>
        <p:nvSpPr>
          <p:cNvPr id="17" name="PoljeZBesedilom 16">
            <a:extLst>
              <a:ext uri="{FF2B5EF4-FFF2-40B4-BE49-F238E27FC236}">
                <a16:creationId xmlns:a16="http://schemas.microsoft.com/office/drawing/2014/main" id="{BBE5239F-3242-4B0E-BAB4-8BBBE66C6946}"/>
              </a:ext>
            </a:extLst>
          </p:cNvPr>
          <p:cNvSpPr txBox="1"/>
          <p:nvPr/>
        </p:nvSpPr>
        <p:spPr>
          <a:xfrm>
            <a:off x="7354448" y="6177012"/>
            <a:ext cx="2882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Slika</a:t>
            </a:r>
            <a:r>
              <a:rPr lang="en-US" sz="1600" dirty="0"/>
              <a:t> 17: </a:t>
            </a:r>
            <a:r>
              <a:rPr lang="en-US" sz="1600" dirty="0" err="1"/>
              <a:t>Koda</a:t>
            </a:r>
            <a:r>
              <a:rPr lang="en-US" sz="1600" dirty="0"/>
              <a:t> </a:t>
            </a:r>
            <a:r>
              <a:rPr lang="en-US" sz="1600" dirty="0" err="1"/>
              <a:t>konč</a:t>
            </a:r>
            <a:r>
              <a:rPr lang="en-US" sz="1600" dirty="0"/>
              <a:t>. </a:t>
            </a:r>
            <a:r>
              <a:rPr lang="en-US" sz="1600" dirty="0" err="1"/>
              <a:t>menija</a:t>
            </a:r>
            <a:endParaRPr lang="sl-SI" sz="1600" dirty="0"/>
          </a:p>
        </p:txBody>
      </p:sp>
    </p:spTree>
    <p:extLst>
      <p:ext uri="{BB962C8B-B14F-4D97-AF65-F5344CB8AC3E}">
        <p14:creationId xmlns:p14="http://schemas.microsoft.com/office/powerpoint/2010/main" val="955339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AAAE307-F3EB-4115-8880-110A3939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ZAKLJUČEK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C6E06D7-A7A3-4F4F-956D-A3E57C744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Spoznanja</a:t>
            </a:r>
            <a:endParaRPr lang="en-US" sz="2000" dirty="0"/>
          </a:p>
          <a:p>
            <a:r>
              <a:rPr lang="en-US" sz="2000" dirty="0" err="1"/>
              <a:t>Nadgradnje</a:t>
            </a:r>
            <a:endParaRPr lang="en-US" sz="2000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4549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2BF2CE-FE58-4FF2-A9B3-F5D27D68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VIRI IN LITERATURA</a:t>
            </a:r>
            <a:endParaRPr lang="sl-SI" sz="4000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BD3443C-B8AB-46B2-88C0-171C4A31C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438650"/>
          </a:xfrm>
        </p:spPr>
        <p:txBody>
          <a:bodyPr>
            <a:normAutofit fontScale="77500" lnSpcReduction="20000"/>
          </a:bodyPr>
          <a:lstStyle/>
          <a:p>
            <a:pPr marL="274320" indent="-27432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Tuliper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Adam. Docs.microsoft.com.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Unity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Developing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First Game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Unity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C#.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[Elektronski] Avgust 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2014.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https://docs.microsoft.com/en-us/archive/msdn-magazine/2014/august/unity-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developing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first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-game-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unity-and-csharp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En.wikipedia.org.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Unity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(game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engine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-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Wikipedia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[Elektronski]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https://en.wikipedia.org/wiki/Unity_(game_engine)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Software,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Arnia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Arnia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Software.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Makes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Unity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So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Popular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Game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Development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[Elektronski] 10. Avgust 2020.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https://www.arnia.com/what-makes-unity-so-popular-in-game-development/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sl-SI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www.redhat.com.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IDE?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[Elektronski] 8. Januar 2019.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https://www.redhat.com/en/topics/middleware/what-is-ide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5.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Sinicki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Adam. Android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Authority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is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Unity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?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Everything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need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to know.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[Elektronski] 20. 3 2021.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hlinkClick r:id="rId6"/>
              </a:rPr>
              <a:t>https://www.androidauthority.com/what-is-unity-1131558/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6.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GeeksforGeeks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Introduction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to C# -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GeeksforGeeks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[Elektronski] 17. december 2019.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hlinkClick r:id="rId7"/>
              </a:rPr>
              <a:t>https://www.geeksforgeeks.org/introduction-to-c-sharp/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7.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microsoft.com. 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tour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of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C#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language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[Elektronski] 18. marec 2022.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hlinkClick r:id="rId8"/>
              </a:rPr>
              <a:t>https://docs.microsoft.com/en-us/dotnet/csharp/tour-of-csharp/</a:t>
            </a:r>
            <a:endParaRPr lang="en-US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8. </a:t>
            </a:r>
            <a:r>
              <a:rPr lang="sl-SI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Jarvis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support.unity.com.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Unity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Asset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Store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how do I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purchase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sl-SI" sz="1800" i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Assets</a:t>
            </a:r>
            <a:r>
              <a:rPr lang="sl-SI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[Elektronski] 2021. [Navedeno: 16. 3 2021.] 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https://support.unity.com/hc/en-us/articles/210142503-What-is-the-Unity-Asset-Store-and-how-do-I-purchase-Assets-</a:t>
            </a:r>
            <a:r>
              <a:rPr lang="sl-SI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sl-SI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75550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1583111-7B3F-4752-94AF-6BD46D37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HVALA ZA VAŠO POZORNOST</a:t>
            </a:r>
            <a:endParaRPr lang="sl-SI" sz="4000" dirty="0"/>
          </a:p>
        </p:txBody>
      </p:sp>
    </p:spTree>
    <p:extLst>
      <p:ext uri="{BB962C8B-B14F-4D97-AF65-F5344CB8AC3E}">
        <p14:creationId xmlns:p14="http://schemas.microsoft.com/office/powerpoint/2010/main" val="3625208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Šelest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613</Words>
  <Application>Microsoft Office PowerPoint</Application>
  <PresentationFormat>Širokozaslonsko</PresentationFormat>
  <Paragraphs>97</Paragraphs>
  <Slides>17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Šelest</vt:lpstr>
      <vt:lpstr>IZDELAVA IGER – MISTIQUE</vt:lpstr>
      <vt:lpstr>UVOD</vt:lpstr>
      <vt:lpstr>UNITY</vt:lpstr>
      <vt:lpstr>C#</vt:lpstr>
      <vt:lpstr>IZDELAVA IGRE</vt:lpstr>
      <vt:lpstr>SLIKOVNI MATERIAL</vt:lpstr>
      <vt:lpstr>IMPLEMENTACIJA SLIK</vt:lpstr>
      <vt:lpstr>ANIMACIJE</vt:lpstr>
      <vt:lpstr>SKRIPTE</vt:lpstr>
      <vt:lpstr>PREMIKANJE</vt:lpstr>
      <vt:lpstr>KONTROLA KAMERE</vt:lpstr>
      <vt:lpstr>SISTEM ŽIVLJENJA</vt:lpstr>
      <vt:lpstr>SCENE</vt:lpstr>
      <vt:lpstr>SCENE</vt:lpstr>
      <vt:lpstr>ZAKLJUČEK</vt:lpstr>
      <vt:lpstr>VIRI IN LITERATURA</vt:lpstr>
      <vt:lpstr>HVALA ZA VAŠO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IZDELAVA IGER – MISTIQUE</dc:title>
  <dc:creator>FlyingGolob</dc:creator>
  <cp:lastModifiedBy>FlyingGolob</cp:lastModifiedBy>
  <cp:revision>2</cp:revision>
  <dcterms:created xsi:type="dcterms:W3CDTF">2022-04-24T22:40:19Z</dcterms:created>
  <dcterms:modified xsi:type="dcterms:W3CDTF">2022-04-25T02:08:48Z</dcterms:modified>
</cp:coreProperties>
</file>